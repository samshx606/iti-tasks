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7" r:id="rId3"/>
    <p:sldId id="278" r:id="rId4"/>
    <p:sldId id="361" r:id="rId5"/>
    <p:sldId id="279" r:id="rId6"/>
    <p:sldId id="280" r:id="rId7"/>
    <p:sldId id="284" r:id="rId8"/>
    <p:sldId id="360" r:id="rId9"/>
    <p:sldId id="315" r:id="rId10"/>
    <p:sldId id="316" r:id="rId11"/>
    <p:sldId id="317" r:id="rId12"/>
    <p:sldId id="318" r:id="rId13"/>
    <p:sldId id="304" r:id="rId14"/>
    <p:sldId id="281" r:id="rId15"/>
    <p:sldId id="282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493" autoAdjust="0"/>
    <p:restoredTop sz="97432" autoAdjust="0"/>
  </p:normalViewPr>
  <p:slideViewPr>
    <p:cSldViewPr>
      <p:cViewPr varScale="1">
        <p:scale>
          <a:sx n="158" d="100"/>
          <a:sy n="158" d="100"/>
        </p:scale>
        <p:origin x="690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38100" cy="381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E5D29-F644-8DB6-A861-CE7F27EDA5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08EAAB-4F7C-8724-57FE-4C02D64D0B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8EF0AE-D071-A703-A251-D9256E51F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9993E-8C33-4163-9A7E-FE262AF7FA67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A5BDAA-CCEC-18F3-56F6-8816AF037E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C0172F-ECB2-FC14-B2F4-94BF905D9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A0B60-AD57-430D-8DD0-143AB1491E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92934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935F51-E329-D6E4-A534-791250DCAF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361FAB-5D3A-7BBB-40E5-5DA61772A9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B8B6E6-98A4-B63C-C3ED-3BDD0E8334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9993E-8C33-4163-9A7E-FE262AF7FA67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5EAFCA-5CA5-5731-0B68-C1EA60EF6A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ADC34C-9EA4-1034-2376-DEA0B5DAD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A0B60-AD57-430D-8DD0-143AB1491E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54794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498F9-66E3-791A-F914-7C405DCAC2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87A292-C35C-91AA-1D09-B09130DA81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6B940F-B401-FFA1-EA19-1FC6F1B9A8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9993E-8C33-4163-9A7E-FE262AF7FA67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5C48D7-8ECD-3FBB-B55A-73C90DC6B5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F850FF-8BA2-0DAF-537F-EB72599CD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A0B60-AD57-430D-8DD0-143AB1491E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5973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C7A3B0-D5DD-4BC0-A562-160645212C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A67866-B6B9-F8D4-00A4-1551C6FB2F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E3725E-0F52-347E-B60B-175D6DAAEB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4A5C38-B10C-F825-BA3A-694837CE7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9993E-8C33-4163-9A7E-FE262AF7FA67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69D748-8FAA-D244-EB12-3C2A4257CB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607BE6-D0BB-8084-1D15-6F2F57585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A0B60-AD57-430D-8DD0-143AB1491E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3349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74C3DC-7239-3688-D1D9-F3DF0C029A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5A70A7-B569-EE0C-F43A-EB9F0E1371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6FC213-598B-7886-F913-5FAA211C03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1218559-007B-C0B4-57DA-6A25738644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DD1E9DF-AE61-E2CE-EBF1-6C70746A65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16F7EA3-2734-2414-9A07-7495B56A8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9993E-8C33-4163-9A7E-FE262AF7FA67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00D219-A2E4-66DA-AC9A-D2EBFCD9CB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7233A70-B491-F4E4-7362-52B027644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A0B60-AD57-430D-8DD0-143AB1491E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1272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90E10-86F9-E2B5-7912-27F4D37F5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3C1C29-3D76-D126-A49A-B31B794D4B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9993E-8C33-4163-9A7E-FE262AF7FA67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54AE62-4A40-CCEA-DD91-EC1A60FC39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10E6C0-58B1-E1CC-1D34-74F7D8C15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A0B60-AD57-430D-8DD0-143AB1491E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0625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887BF5-9D6D-5162-B187-EFB22A1A1C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9993E-8C33-4163-9A7E-FE262AF7FA67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CA7FD84-C5E2-6749-CB3E-5863E804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4FB59E-9B48-D1A2-8B8A-B282CC0D4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A0B60-AD57-430D-8DD0-143AB1491E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79118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DA8E5-B765-B7F7-CA25-ACB63FDB89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5D4B42-B30C-D9FA-339A-7556E2A061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1FB410-A3CA-5402-FDAB-95ACD73D07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9F519C-AB49-586B-504D-F3E38C56D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9993E-8C33-4163-9A7E-FE262AF7FA67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0349D2-B144-874B-A945-9FDB5935F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2F2BD7-2DA5-049B-4F82-24C7B4B1C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A0B60-AD57-430D-8DD0-143AB1491E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02799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0CD00-BE31-4D81-1A8B-7E2AD8D95A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4C0EAB9-8F89-B5BB-C233-473BC52FBF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63B374-2EE5-E4DD-5C38-C9866B7827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F95AD4-B53E-D430-00B2-0C70DE5400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9993E-8C33-4163-9A7E-FE262AF7FA67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F9EEA5-CFD5-3863-297A-B0CFD842B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F6757F-593A-BDA0-B010-AB86E7404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A0B60-AD57-430D-8DD0-143AB1491E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6610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0BE042-3257-714E-6E46-46E2D134A9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4CAC34-5700-3589-6C04-87A7BF4CBA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3B483A-1D72-9468-507B-A0ADFFEEE8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9993E-8C33-4163-9A7E-FE262AF7FA67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24D410-0BD6-CE70-0F2A-908A255AA4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61FAEE-6366-6DE1-5936-560E99599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A0B60-AD57-430D-8DD0-143AB1491E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5245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C9B126-636A-C648-CEC4-FB2483CD60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FCB8A9-E2C5-BE40-C3A9-FD3699E6EF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32B3D4-5B8A-5D64-8200-C1746478F3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9993E-8C33-4163-9A7E-FE262AF7FA67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9E2D3C-853B-257A-2A6D-83D88C8FF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9A2302-B4E5-BA04-1CB4-B4544ED0DA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A0B60-AD57-430D-8DD0-143AB1491E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96441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223F1C-273B-B915-28F7-DE87008453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464E36-A778-9BE8-B88D-FE0189D466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DD8C19-F0B1-74CC-14C5-258764B498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49993E-8C33-4163-9A7E-FE262AF7FA67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D6D726-4768-4C53-CECA-8ECE6E4D52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DE4B2B-4BA6-F44E-D986-094E40DD4F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DA0B60-AD57-430D-8DD0-143AB1491E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22341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815474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6290302-934E-88B0-8712-DA9C224D3842}"/>
              </a:ext>
            </a:extLst>
          </p:cNvPr>
          <p:cNvSpPr txBox="1"/>
          <p:nvPr/>
        </p:nvSpPr>
        <p:spPr>
          <a:xfrm>
            <a:off x="3776460" y="3105835"/>
            <a:ext cx="46390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bg1"/>
                </a:solidFill>
              </a:rPr>
              <a:t>Component Interaction</a:t>
            </a:r>
          </a:p>
        </p:txBody>
      </p:sp>
    </p:spTree>
    <p:extLst>
      <p:ext uri="{BB962C8B-B14F-4D97-AF65-F5344CB8AC3E}">
        <p14:creationId xmlns:p14="http://schemas.microsoft.com/office/powerpoint/2010/main" val="32580136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F4DFBC1-4ADD-FF62-A7BD-8BF54328041E}"/>
              </a:ext>
            </a:extLst>
          </p:cNvPr>
          <p:cNvSpPr txBox="1"/>
          <p:nvPr/>
        </p:nvSpPr>
        <p:spPr>
          <a:xfrm>
            <a:off x="396152" y="304800"/>
            <a:ext cx="851924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Component Interaction in Angular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56CCF6-857C-C5DC-758E-4387A78BCC53}"/>
              </a:ext>
            </a:extLst>
          </p:cNvPr>
          <p:cNvSpPr txBox="1"/>
          <p:nvPr/>
        </p:nvSpPr>
        <p:spPr>
          <a:xfrm>
            <a:off x="396152" y="800100"/>
            <a:ext cx="1065284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In Angular, the app is made up of </a:t>
            </a:r>
            <a:r>
              <a:rPr lang="en-US" sz="1600" b="1" dirty="0"/>
              <a:t>small components</a:t>
            </a:r>
            <a:r>
              <a:rPr lang="en-US" sz="1600" dirty="0"/>
              <a:t>.</a:t>
            </a:r>
            <a:br>
              <a:rPr lang="en-US" sz="1600" dirty="0"/>
            </a:br>
            <a:r>
              <a:rPr lang="en-US" sz="1600" dirty="0"/>
              <a:t>To work together, these components need to </a:t>
            </a:r>
            <a:r>
              <a:rPr lang="en-US" sz="1600" b="1" dirty="0"/>
              <a:t>pass data</a:t>
            </a:r>
            <a:r>
              <a:rPr lang="en-US" sz="1600" dirty="0"/>
              <a:t> and </a:t>
            </a:r>
            <a:r>
              <a:rPr lang="en-US" sz="1600" b="1" dirty="0"/>
              <a:t>communicate</a:t>
            </a:r>
            <a:r>
              <a:rPr lang="en-US" sz="1600" dirty="0"/>
              <a:t>.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D29D44A-76FB-0AA3-4BCD-A27983E4D390}"/>
              </a:ext>
            </a:extLst>
          </p:cNvPr>
          <p:cNvGrpSpPr/>
          <p:nvPr/>
        </p:nvGrpSpPr>
        <p:grpSpPr>
          <a:xfrm>
            <a:off x="310474" y="1562100"/>
            <a:ext cx="11571052" cy="4124949"/>
            <a:chOff x="403772" y="1932951"/>
            <a:chExt cx="11571052" cy="4124949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2E5E61E8-1CF8-A67C-8DAE-665CBD4B9BF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03772" y="1932951"/>
              <a:ext cx="7391400" cy="4124949"/>
            </a:xfrm>
            <a:prstGeom prst="rect">
              <a:avLst/>
            </a:prstGeom>
          </p:spPr>
        </p:pic>
        <p:pic>
          <p:nvPicPr>
            <p:cNvPr id="11268" name="Picture 4" descr="Communication Between Components Using @Input() in Angular 2">
              <a:extLst>
                <a:ext uri="{FF2B5EF4-FFF2-40B4-BE49-F238E27FC236}">
                  <a16:creationId xmlns:a16="http://schemas.microsoft.com/office/drawing/2014/main" id="{D37B9F10-C1BF-1BA9-B025-CBB056206FE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66571" y="1932951"/>
              <a:ext cx="4408253" cy="41249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7889986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gular 17 @Inputs and @Outputs EventEmitter Example | State Management in  Angular 17 - YouTube">
            <a:extLst>
              <a:ext uri="{FF2B5EF4-FFF2-40B4-BE49-F238E27FC236}">
                <a16:creationId xmlns:a16="http://schemas.microsoft.com/office/drawing/2014/main" id="{C62873FE-7FBE-45E5-1ABC-E7F76563DE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920731"/>
            <a:ext cx="8915400" cy="50165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147000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F4DFBC1-4ADD-FF62-A7BD-8BF54328041E}"/>
              </a:ext>
            </a:extLst>
          </p:cNvPr>
          <p:cNvSpPr txBox="1"/>
          <p:nvPr/>
        </p:nvSpPr>
        <p:spPr>
          <a:xfrm>
            <a:off x="396152" y="304800"/>
            <a:ext cx="150884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@Input()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E1EA4DB-6656-4F0C-FE23-A71AD0F218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66800"/>
            <a:ext cx="8116433" cy="391532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A1AAFF1-A01D-F97C-532B-83C6071D9EDF}"/>
              </a:ext>
            </a:extLst>
          </p:cNvPr>
          <p:cNvSpPr txBox="1"/>
          <p:nvPr/>
        </p:nvSpPr>
        <p:spPr>
          <a:xfrm>
            <a:off x="9867900" y="6286500"/>
            <a:ext cx="196604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Input function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A30253-D952-704C-DC6D-814D5C27F09A}"/>
              </a:ext>
            </a:extLst>
          </p:cNvPr>
          <p:cNvSpPr txBox="1"/>
          <p:nvPr/>
        </p:nvSpPr>
        <p:spPr>
          <a:xfrm>
            <a:off x="396152" y="5257800"/>
            <a:ext cx="196604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Required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339DF25-60DE-A48A-8F45-B4F79D971D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452" y="5765800"/>
            <a:ext cx="4334480" cy="200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05657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F4DFBC1-4ADD-FF62-A7BD-8BF54328041E}"/>
              </a:ext>
            </a:extLst>
          </p:cNvPr>
          <p:cNvSpPr txBox="1"/>
          <p:nvPr/>
        </p:nvSpPr>
        <p:spPr>
          <a:xfrm>
            <a:off x="396152" y="304800"/>
            <a:ext cx="851924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@Output()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66B4450-1D71-1139-3345-9AC4DCAEB9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023602"/>
            <a:ext cx="8059275" cy="481079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AC6202C-ED6B-7D90-A6F5-E21F78AC3049}"/>
              </a:ext>
            </a:extLst>
          </p:cNvPr>
          <p:cNvSpPr txBox="1"/>
          <p:nvPr/>
        </p:nvSpPr>
        <p:spPr>
          <a:xfrm>
            <a:off x="9753600" y="6286500"/>
            <a:ext cx="22479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output function</a:t>
            </a:r>
          </a:p>
        </p:txBody>
      </p:sp>
    </p:spTree>
    <p:extLst>
      <p:ext uri="{BB962C8B-B14F-4D97-AF65-F5344CB8AC3E}">
        <p14:creationId xmlns:p14="http://schemas.microsoft.com/office/powerpoint/2010/main" val="39993349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F4DFBC1-4ADD-FF62-A7BD-8BF54328041E}"/>
              </a:ext>
            </a:extLst>
          </p:cNvPr>
          <p:cNvSpPr txBox="1"/>
          <p:nvPr/>
        </p:nvSpPr>
        <p:spPr>
          <a:xfrm>
            <a:off x="396152" y="304800"/>
            <a:ext cx="851924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@ViewChild()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A3A942D-F8A0-133E-FC04-DA843C33DB31}"/>
              </a:ext>
            </a:extLst>
          </p:cNvPr>
          <p:cNvSpPr txBox="1"/>
          <p:nvPr/>
        </p:nvSpPr>
        <p:spPr>
          <a:xfrm>
            <a:off x="396152" y="823547"/>
            <a:ext cx="851924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# Template Variable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E4E276-B651-3CED-FA81-2CCC3F7522BC}"/>
              </a:ext>
            </a:extLst>
          </p:cNvPr>
          <p:cNvSpPr txBox="1"/>
          <p:nvPr/>
        </p:nvSpPr>
        <p:spPr>
          <a:xfrm>
            <a:off x="396152" y="1342294"/>
            <a:ext cx="109347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lets a component </a:t>
            </a:r>
            <a:r>
              <a:rPr lang="en-US" sz="2000" b="1" dirty="0"/>
              <a:t>access</a:t>
            </a:r>
            <a:r>
              <a:rPr lang="en-US" sz="2000" dirty="0"/>
              <a:t> a </a:t>
            </a:r>
            <a:r>
              <a:rPr lang="en-US" sz="2000" b="1" dirty="0"/>
              <a:t>child component, directive, or DOM element</a:t>
            </a:r>
            <a:r>
              <a:rPr lang="en-US" sz="2000" dirty="0"/>
              <a:t> from its </a:t>
            </a:r>
            <a:r>
              <a:rPr lang="en-US" sz="2000" b="1" dirty="0"/>
              <a:t>template</a:t>
            </a:r>
            <a:r>
              <a:rPr lang="en-US" sz="2000" dirty="0"/>
              <a:t>.</a:t>
            </a:r>
          </a:p>
          <a:p>
            <a:endParaRPr lang="en-US" sz="2000" dirty="0"/>
          </a:p>
          <a:p>
            <a:r>
              <a:rPr lang="en-US" sz="2000" dirty="0"/>
              <a:t>Think of it as a way to </a:t>
            </a:r>
            <a:r>
              <a:rPr lang="en-US" sz="2000" b="1" dirty="0"/>
              <a:t>reach into the template</a:t>
            </a:r>
            <a:r>
              <a:rPr lang="en-US" sz="2000" dirty="0"/>
              <a:t> and get a reference to something inside it.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18A0B4-A6BA-CE67-4B96-074D70DF78AB}"/>
              </a:ext>
            </a:extLst>
          </p:cNvPr>
          <p:cNvSpPr txBox="1"/>
          <p:nvPr/>
        </p:nvSpPr>
        <p:spPr>
          <a:xfrm>
            <a:off x="396152" y="3429000"/>
            <a:ext cx="851924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@ViewChildren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32ACEED-AE0E-5976-8CC3-9D6000C542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822" y="4076700"/>
            <a:ext cx="8287907" cy="2705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6221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E7A3B7-3CC7-7CF4-2CF7-B0AC6F3995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1072FE8-27F9-331E-3790-5B6861E411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" y="1144759"/>
            <a:ext cx="5805579" cy="373501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AD0EB57-D87F-4E0F-1E05-B822A72A18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5336" y="1144759"/>
            <a:ext cx="5592807" cy="3735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72750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6290302-934E-88B0-8712-DA9C224D3842}"/>
              </a:ext>
            </a:extLst>
          </p:cNvPr>
          <p:cNvSpPr txBox="1"/>
          <p:nvPr/>
        </p:nvSpPr>
        <p:spPr>
          <a:xfrm>
            <a:off x="4203829" y="3105835"/>
            <a:ext cx="378436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bg1"/>
                </a:solidFill>
              </a:rPr>
              <a:t>Content Projection</a:t>
            </a:r>
          </a:p>
        </p:txBody>
      </p:sp>
    </p:spTree>
    <p:extLst>
      <p:ext uri="{BB962C8B-B14F-4D97-AF65-F5344CB8AC3E}">
        <p14:creationId xmlns:p14="http://schemas.microsoft.com/office/powerpoint/2010/main" val="13704961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8875278-2FF0-2A39-4852-89BFE6923CC3}"/>
              </a:ext>
            </a:extLst>
          </p:cNvPr>
          <p:cNvSpPr txBox="1"/>
          <p:nvPr/>
        </p:nvSpPr>
        <p:spPr>
          <a:xfrm>
            <a:off x="190500" y="228600"/>
            <a:ext cx="851924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Content Projection in Angular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3A63F3F-D5AF-0729-3743-5377436740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0" y="800100"/>
            <a:ext cx="8297433" cy="144800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7CE6B6D-34C0-D7D3-7018-2CD46F3EB1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" y="2235402"/>
            <a:ext cx="8297433" cy="1705213"/>
          </a:xfrm>
          <a:prstGeom prst="rect">
            <a:avLst/>
          </a:prstGeom>
        </p:spPr>
      </p:pic>
      <p:pic>
        <p:nvPicPr>
          <p:cNvPr id="2050" name="Picture 2" descr="Ultimate guide for designing UI cards | by Vikalp Kaushik | UX Planet">
            <a:extLst>
              <a:ext uri="{FF2B5EF4-FFF2-40B4-BE49-F238E27FC236}">
                <a16:creationId xmlns:a16="http://schemas.microsoft.com/office/drawing/2014/main" id="{3E1C135E-C5BC-97BD-303A-2E125CF9102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99" t="4444" r="11022" b="28889"/>
          <a:stretch/>
        </p:blipFill>
        <p:spPr bwMode="auto">
          <a:xfrm>
            <a:off x="8763000" y="1143000"/>
            <a:ext cx="2977092" cy="2463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789300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8875278-2FF0-2A39-4852-89BFE6923CC3}"/>
              </a:ext>
            </a:extLst>
          </p:cNvPr>
          <p:cNvSpPr txBox="1"/>
          <p:nvPr/>
        </p:nvSpPr>
        <p:spPr>
          <a:xfrm>
            <a:off x="190500" y="228600"/>
            <a:ext cx="851924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Content Projection in Angular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AEDEFD31-BFEB-33A5-DED9-20678719071E}"/>
              </a:ext>
            </a:extLst>
          </p:cNvPr>
          <p:cNvSpPr/>
          <p:nvPr/>
        </p:nvSpPr>
        <p:spPr>
          <a:xfrm>
            <a:off x="8877300" y="914400"/>
            <a:ext cx="2400300" cy="2705100"/>
          </a:xfrm>
          <a:prstGeom prst="roundRect">
            <a:avLst>
              <a:gd name="adj" fmla="val 7143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08B77A-D739-169D-1BD0-872AE71A97C8}"/>
              </a:ext>
            </a:extLst>
          </p:cNvPr>
          <p:cNvSpPr txBox="1"/>
          <p:nvPr/>
        </p:nvSpPr>
        <p:spPr>
          <a:xfrm>
            <a:off x="9715500" y="368300"/>
            <a:ext cx="8763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Card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2249873-07ED-A1A8-82A7-973E71D4CA7B}"/>
              </a:ext>
            </a:extLst>
          </p:cNvPr>
          <p:cNvSpPr txBox="1"/>
          <p:nvPr/>
        </p:nvSpPr>
        <p:spPr>
          <a:xfrm>
            <a:off x="9105900" y="1970456"/>
            <a:ext cx="19431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/>
              <a:t>………………………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BA5D417-1642-85C2-7583-A7EAAC8C0139}"/>
              </a:ext>
            </a:extLst>
          </p:cNvPr>
          <p:cNvSpPr txBox="1"/>
          <p:nvPr/>
        </p:nvSpPr>
        <p:spPr>
          <a:xfrm>
            <a:off x="9105900" y="2418161"/>
            <a:ext cx="19431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/>
              <a:t>………………………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2CEE70E-5B59-04B5-7CC3-A9E849FCD819}"/>
              </a:ext>
            </a:extLst>
          </p:cNvPr>
          <p:cNvSpPr txBox="1"/>
          <p:nvPr/>
        </p:nvSpPr>
        <p:spPr>
          <a:xfrm>
            <a:off x="9105900" y="2895720"/>
            <a:ext cx="1943100" cy="400110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pPr algn="ctr"/>
            <a:r>
              <a:rPr lang="en-US" sz="2000" b="1" dirty="0"/>
              <a:t>Button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BC4E746D-029E-F3F9-BC2C-B65DDFFE6B24}"/>
              </a:ext>
            </a:extLst>
          </p:cNvPr>
          <p:cNvGrpSpPr/>
          <p:nvPr/>
        </p:nvGrpSpPr>
        <p:grpSpPr>
          <a:xfrm>
            <a:off x="9105900" y="1104900"/>
            <a:ext cx="1943100" cy="790665"/>
            <a:chOff x="9105900" y="1104900"/>
            <a:chExt cx="1943100" cy="790665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20D379F2-AD2F-AE23-FF07-98D0C8AE8835}"/>
                </a:ext>
              </a:extLst>
            </p:cNvPr>
            <p:cNvGrpSpPr/>
            <p:nvPr/>
          </p:nvGrpSpPr>
          <p:grpSpPr>
            <a:xfrm>
              <a:off x="9105900" y="1104900"/>
              <a:ext cx="1943100" cy="790665"/>
              <a:chOff x="9105900" y="1104900"/>
              <a:chExt cx="1943100" cy="790665"/>
            </a:xfrm>
          </p:grpSpPr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5550012-402D-CC48-4787-1F5E6C99BB4F}"/>
                  </a:ext>
                </a:extLst>
              </p:cNvPr>
              <p:cNvSpPr txBox="1"/>
              <p:nvPr/>
            </p:nvSpPr>
            <p:spPr>
              <a:xfrm>
                <a:off x="9105900" y="1104900"/>
                <a:ext cx="1943100" cy="40011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 algn="ctr"/>
                <a:endParaRPr lang="en-US" sz="2000" b="1" dirty="0"/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69D87CB-9956-2550-4333-D909844A443D}"/>
                  </a:ext>
                </a:extLst>
              </p:cNvPr>
              <p:cNvSpPr txBox="1"/>
              <p:nvPr/>
            </p:nvSpPr>
            <p:spPr>
              <a:xfrm>
                <a:off x="9105900" y="1495455"/>
                <a:ext cx="1943100" cy="40011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 algn="ctr"/>
                <a:endParaRPr lang="en-US" sz="2000" b="1" dirty="0"/>
              </a:p>
            </p:txBody>
          </p:sp>
        </p:grp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19FAA9BC-29A2-D656-7508-B6F461C27323}"/>
                </a:ext>
              </a:extLst>
            </p:cNvPr>
            <p:cNvSpPr txBox="1"/>
            <p:nvPr/>
          </p:nvSpPr>
          <p:spPr>
            <a:xfrm>
              <a:off x="9620250" y="1300177"/>
              <a:ext cx="914400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000" b="1" dirty="0"/>
                <a:t>Photo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C4EF982-1A12-9018-D66B-A5BD91B74351}"/>
              </a:ext>
            </a:extLst>
          </p:cNvPr>
          <p:cNvGrpSpPr/>
          <p:nvPr/>
        </p:nvGrpSpPr>
        <p:grpSpPr>
          <a:xfrm>
            <a:off x="190500" y="768410"/>
            <a:ext cx="5318741" cy="4494035"/>
            <a:chOff x="190500" y="768410"/>
            <a:chExt cx="5318741" cy="4494035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D00CBE44-B2AA-3E66-95CD-BFF51A2D4B0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0500" y="768410"/>
              <a:ext cx="5318740" cy="1593790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1781B710-A04A-0A53-CE22-445A040FCA2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90501" y="2362200"/>
              <a:ext cx="5318740" cy="1473266"/>
            </a:xfrm>
            <a:prstGeom prst="rect">
              <a:avLst/>
            </a:prstGeom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AF2F0FA6-DBDA-27B7-7C3F-3DD72B76A88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90500" y="3835466"/>
              <a:ext cx="5318740" cy="142697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975669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8875278-2FF0-2A39-4852-89BFE6923CC3}"/>
              </a:ext>
            </a:extLst>
          </p:cNvPr>
          <p:cNvSpPr txBox="1"/>
          <p:nvPr/>
        </p:nvSpPr>
        <p:spPr>
          <a:xfrm>
            <a:off x="190500" y="228600"/>
            <a:ext cx="851924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Content Projection in Angular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BBC2333-2551-51F3-C473-9F997F8E526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3217"/>
          <a:stretch/>
        </p:blipFill>
        <p:spPr>
          <a:xfrm>
            <a:off x="266700" y="990600"/>
            <a:ext cx="6933966" cy="504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83858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6290302-934E-88B0-8712-DA9C224D3842}"/>
              </a:ext>
            </a:extLst>
          </p:cNvPr>
          <p:cNvSpPr txBox="1"/>
          <p:nvPr/>
        </p:nvSpPr>
        <p:spPr>
          <a:xfrm>
            <a:off x="5223396" y="3105835"/>
            <a:ext cx="174522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bg1"/>
                </a:solidFill>
              </a:rPr>
              <a:t>Services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6C8C9BD1-23A3-1185-BC26-389576DB674F}"/>
              </a:ext>
            </a:extLst>
          </p:cNvPr>
          <p:cNvGrpSpPr/>
          <p:nvPr/>
        </p:nvGrpSpPr>
        <p:grpSpPr>
          <a:xfrm>
            <a:off x="4368115" y="902013"/>
            <a:ext cx="7490813" cy="4336737"/>
            <a:chOff x="-3401163" y="417091"/>
            <a:chExt cx="8624559" cy="4993109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7B6F295F-C86C-0E65-AFC6-FA5AAA728228}"/>
                </a:ext>
              </a:extLst>
            </p:cNvPr>
            <p:cNvSpPr/>
            <p:nvPr/>
          </p:nvSpPr>
          <p:spPr>
            <a:xfrm>
              <a:off x="419100" y="1352550"/>
              <a:ext cx="4804296" cy="405765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BBC5ADF3-6DE8-7162-1D35-A0CFC5419783}"/>
                </a:ext>
              </a:extLst>
            </p:cNvPr>
            <p:cNvSpPr txBox="1"/>
            <p:nvPr/>
          </p:nvSpPr>
          <p:spPr>
            <a:xfrm>
              <a:off x="1809497" y="1447800"/>
              <a:ext cx="148640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b="1" dirty="0">
                  <a:solidFill>
                    <a:schemeClr val="bg1"/>
                  </a:solidFill>
                </a:rPr>
                <a:t>App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26095C3-B8B5-2A6F-01F5-17F392200A6E}"/>
                </a:ext>
              </a:extLst>
            </p:cNvPr>
            <p:cNvSpPr/>
            <p:nvPr/>
          </p:nvSpPr>
          <p:spPr>
            <a:xfrm>
              <a:off x="561659" y="3200534"/>
              <a:ext cx="1663817" cy="1619250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Child 1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411429B-7E74-455D-3CF1-0F9F4F1F3485}"/>
                </a:ext>
              </a:extLst>
            </p:cNvPr>
            <p:cNvSpPr/>
            <p:nvPr/>
          </p:nvSpPr>
          <p:spPr>
            <a:xfrm>
              <a:off x="3381817" y="3200534"/>
              <a:ext cx="1663817" cy="161925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Child 2</a:t>
              </a:r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4377429B-A9FD-FA64-1F5C-A7C9E08C3BE4}"/>
                </a:ext>
              </a:extLst>
            </p:cNvPr>
            <p:cNvGrpSpPr/>
            <p:nvPr/>
          </p:nvGrpSpPr>
          <p:grpSpPr>
            <a:xfrm>
              <a:off x="342900" y="1817132"/>
              <a:ext cx="2767487" cy="990600"/>
              <a:chOff x="605625" y="1817132"/>
              <a:chExt cx="2767487" cy="990600"/>
            </a:xfrm>
          </p:grpSpPr>
          <p:cxnSp>
            <p:nvCxnSpPr>
              <p:cNvPr id="9" name="Straight Arrow Connector 8">
                <a:extLst>
                  <a:ext uri="{FF2B5EF4-FFF2-40B4-BE49-F238E27FC236}">
                    <a16:creationId xmlns:a16="http://schemas.microsoft.com/office/drawing/2014/main" id="{66A03F06-4468-55C4-9056-D5B47D531BA6}"/>
                  </a:ext>
                </a:extLst>
              </p:cNvPr>
              <p:cNvCxnSpPr/>
              <p:nvPr/>
            </p:nvCxnSpPr>
            <p:spPr>
              <a:xfrm flipV="1">
                <a:off x="1393820" y="1817132"/>
                <a:ext cx="692092" cy="990600"/>
              </a:xfrm>
              <a:prstGeom prst="straightConnector1">
                <a:avLst/>
              </a:prstGeom>
              <a:ln>
                <a:solidFill>
                  <a:schemeClr val="bg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23BDC68-65F4-8FBA-ADBA-1A5752200DC6}"/>
                  </a:ext>
                </a:extLst>
              </p:cNvPr>
              <p:cNvSpPr txBox="1"/>
              <p:nvPr/>
            </p:nvSpPr>
            <p:spPr>
              <a:xfrm>
                <a:off x="1886706" y="2114362"/>
                <a:ext cx="148640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bg1"/>
                    </a:solidFill>
                  </a:rPr>
                  <a:t>Input</a:t>
                </a:r>
              </a:p>
            </p:txBody>
          </p:sp>
          <p:cxnSp>
            <p:nvCxnSpPr>
              <p:cNvPr id="11" name="Straight Arrow Connector 10">
                <a:extLst>
                  <a:ext uri="{FF2B5EF4-FFF2-40B4-BE49-F238E27FC236}">
                    <a16:creationId xmlns:a16="http://schemas.microsoft.com/office/drawing/2014/main" id="{E3A6A0BD-9778-84DE-3EBF-9B890912335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638300" y="1861066"/>
                <a:ext cx="842204" cy="936367"/>
              </a:xfrm>
              <a:prstGeom prst="straightConnector1">
                <a:avLst/>
              </a:prstGeom>
              <a:ln>
                <a:solidFill>
                  <a:schemeClr val="bg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9A335E6-30F5-F740-330F-1C3EA1F2AFF0}"/>
                  </a:ext>
                </a:extLst>
              </p:cNvPr>
              <p:cNvSpPr txBox="1"/>
              <p:nvPr/>
            </p:nvSpPr>
            <p:spPr>
              <a:xfrm>
                <a:off x="605625" y="2095500"/>
                <a:ext cx="148640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b="1" dirty="0" err="1">
                    <a:solidFill>
                      <a:schemeClr val="bg1"/>
                    </a:solidFill>
                  </a:rPr>
                  <a:t>Ouput</a:t>
                </a:r>
                <a:endParaRPr lang="en-US" b="1" dirty="0">
                  <a:solidFill>
                    <a:schemeClr val="bg1"/>
                  </a:solidFill>
                </a:endParaRPr>
              </a:p>
            </p:txBody>
          </p:sp>
        </p:grp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4DC18F2B-C1B3-6493-0AEE-6AFD01748EC4}"/>
                </a:ext>
              </a:extLst>
            </p:cNvPr>
            <p:cNvCxnSpPr>
              <a:cxnSpLocks/>
              <a:endCxn id="23" idx="1"/>
            </p:cNvCxnSpPr>
            <p:nvPr/>
          </p:nvCxnSpPr>
          <p:spPr>
            <a:xfrm>
              <a:off x="2253688" y="4010159"/>
              <a:ext cx="1213412" cy="527716"/>
            </a:xfrm>
            <a:prstGeom prst="straightConnector1">
              <a:avLst/>
            </a:prstGeom>
            <a:ln>
              <a:solidFill>
                <a:schemeClr val="bg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A3109A4C-EFED-C7F6-5A9B-0DDC99A63F5C}"/>
                </a:ext>
              </a:extLst>
            </p:cNvPr>
            <p:cNvSpPr/>
            <p:nvPr/>
          </p:nvSpPr>
          <p:spPr>
            <a:xfrm>
              <a:off x="3467100" y="4343400"/>
              <a:ext cx="685800" cy="388950"/>
            </a:xfrm>
            <a:prstGeom prst="rect">
              <a:avLst/>
            </a:prstGeom>
            <a:solidFill>
              <a:schemeClr val="tx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dirty="0"/>
                <a:t>Child 1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29FD5CF4-3B6F-9B20-1AD2-4BC5C27E8A75}"/>
                </a:ext>
              </a:extLst>
            </p:cNvPr>
            <p:cNvSpPr/>
            <p:nvPr/>
          </p:nvSpPr>
          <p:spPr>
            <a:xfrm>
              <a:off x="-3401163" y="417091"/>
              <a:ext cx="1663817" cy="1619250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Service</a:t>
              </a:r>
            </a:p>
            <a:p>
              <a:pPr algn="ctr"/>
              <a:endParaRPr lang="en-US" dirty="0"/>
            </a:p>
            <a:p>
              <a:pPr algn="ctr"/>
              <a:r>
                <a:rPr lang="en-US" dirty="0"/>
                <a:t>user</a:t>
              </a: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7749E7B9-AA57-8B5E-A21F-3522DDB05CFC}"/>
                </a:ext>
              </a:extLst>
            </p:cNvPr>
            <p:cNvSpPr/>
            <p:nvPr/>
          </p:nvSpPr>
          <p:spPr>
            <a:xfrm>
              <a:off x="4408948" y="4343400"/>
              <a:ext cx="428986" cy="243298"/>
            </a:xfrm>
            <a:prstGeom prst="rect">
              <a:avLst/>
            </a:prstGeom>
            <a:solidFill>
              <a:schemeClr val="tx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dirty="0"/>
                <a:t>Child 1</a:t>
              </a: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B6B89636-6787-59F9-B1B0-27745A980627}"/>
                </a:ext>
              </a:extLst>
            </p:cNvPr>
            <p:cNvSpPr/>
            <p:nvPr/>
          </p:nvSpPr>
          <p:spPr>
            <a:xfrm>
              <a:off x="3999232" y="4943942"/>
              <a:ext cx="428986" cy="243298"/>
            </a:xfrm>
            <a:prstGeom prst="rect">
              <a:avLst/>
            </a:prstGeom>
            <a:solidFill>
              <a:schemeClr val="tx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dirty="0"/>
                <a:t>Child 1</a:t>
              </a:r>
            </a:p>
          </p:txBody>
        </p:sp>
      </p:grp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06524851-FB0C-F6BB-B018-81BD9EFDF618}"/>
              </a:ext>
            </a:extLst>
          </p:cNvPr>
          <p:cNvCxnSpPr>
            <a:cxnSpLocks/>
            <a:stCxn id="28" idx="3"/>
          </p:cNvCxnSpPr>
          <p:nvPr/>
        </p:nvCxnSpPr>
        <p:spPr>
          <a:xfrm>
            <a:off x="5813214" y="1605209"/>
            <a:ext cx="2676587" cy="1458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3FBF1FCE-72DC-CA38-F22B-EF1D773F26F9}"/>
              </a:ext>
            </a:extLst>
          </p:cNvPr>
          <p:cNvCxnSpPr>
            <a:cxnSpLocks/>
            <a:stCxn id="28" idx="2"/>
            <a:endCxn id="35" idx="1"/>
          </p:cNvCxnSpPr>
          <p:nvPr/>
        </p:nvCxnSpPr>
        <p:spPr>
          <a:xfrm>
            <a:off x="5090665" y="2308404"/>
            <a:ext cx="5705022" cy="2631038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60034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F4DFBC1-4ADD-FF62-A7BD-8BF54328041E}"/>
              </a:ext>
            </a:extLst>
          </p:cNvPr>
          <p:cNvSpPr txBox="1"/>
          <p:nvPr/>
        </p:nvSpPr>
        <p:spPr>
          <a:xfrm>
            <a:off x="396152" y="228005"/>
            <a:ext cx="85192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Services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6D63A74-2CA1-DBF4-06F1-5098A44E8D6B}"/>
              </a:ext>
            </a:extLst>
          </p:cNvPr>
          <p:cNvSpPr txBox="1"/>
          <p:nvPr/>
        </p:nvSpPr>
        <p:spPr>
          <a:xfrm>
            <a:off x="396152" y="704910"/>
            <a:ext cx="1149104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An Angular </a:t>
            </a:r>
            <a:r>
              <a:rPr lang="en-US" b="1" dirty="0"/>
              <a:t>service</a:t>
            </a:r>
            <a:r>
              <a:rPr lang="en-US" dirty="0"/>
              <a:t> is a </a:t>
            </a:r>
            <a:r>
              <a:rPr lang="en-US" b="1" dirty="0"/>
              <a:t>class that contains business logic, shared data, or reusable functions</a:t>
            </a:r>
            <a:r>
              <a:rPr lang="en-US" dirty="0"/>
              <a:t> — and can be </a:t>
            </a:r>
            <a:r>
              <a:rPr lang="en-US" b="1" dirty="0"/>
              <a:t>injected into components</a:t>
            </a:r>
            <a:r>
              <a:rPr lang="en-US" dirty="0"/>
              <a:t> or other services.</a:t>
            </a:r>
          </a:p>
          <a:p>
            <a:endParaRPr lang="en-US" dirty="0"/>
          </a:p>
          <a:p>
            <a:r>
              <a:rPr lang="en-US" dirty="0"/>
              <a:t>It follows the principle of:</a:t>
            </a:r>
          </a:p>
          <a:p>
            <a:r>
              <a:rPr lang="en-US" b="1" dirty="0"/>
              <a:t>"Separation of Concerns"</a:t>
            </a:r>
            <a:r>
              <a:rPr lang="en-US" dirty="0"/>
              <a:t> — keep logic out of components.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E46DD5F-B21E-AA5B-49CE-EE2DB94B5D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" y="2514600"/>
            <a:ext cx="2991267" cy="209579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511B6BF-74B5-DC22-A7DA-D8016B0C496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4456"/>
          <a:stretch/>
        </p:blipFill>
        <p:spPr>
          <a:xfrm>
            <a:off x="3924300" y="2499360"/>
            <a:ext cx="3238500" cy="287682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28855A7-E66B-344C-CB0D-9E5ECCFB99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5700" y="2499360"/>
            <a:ext cx="4297557" cy="3558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03387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F4DFBC1-4ADD-FF62-A7BD-8BF54328041E}"/>
              </a:ext>
            </a:extLst>
          </p:cNvPr>
          <p:cNvSpPr txBox="1"/>
          <p:nvPr/>
        </p:nvSpPr>
        <p:spPr>
          <a:xfrm>
            <a:off x="396152" y="228005"/>
            <a:ext cx="85192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Services</a:t>
            </a:r>
          </a:p>
        </p:txBody>
      </p:sp>
      <p:pic>
        <p:nvPicPr>
          <p:cNvPr id="13314" name="Picture 2" descr="Learning Angular: What is a Service? | by Jayprakash Patel | Medium">
            <a:extLst>
              <a:ext uri="{FF2B5EF4-FFF2-40B4-BE49-F238E27FC236}">
                <a16:creationId xmlns:a16="http://schemas.microsoft.com/office/drawing/2014/main" id="{FE6E83E8-6436-963F-B029-418934FEEC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876300"/>
            <a:ext cx="4333875" cy="2105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16" name="Picture 4" descr="javascript - Angular 4 pass data between 2 not related components - Stack  Overflow">
            <a:extLst>
              <a:ext uri="{FF2B5EF4-FFF2-40B4-BE49-F238E27FC236}">
                <a16:creationId xmlns:a16="http://schemas.microsoft.com/office/drawing/2014/main" id="{E01609DB-FFC3-47C8-3EA2-B6C581B8BD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3213881"/>
            <a:ext cx="4562475" cy="2076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6" descr="Angular_Services">
            <a:extLst>
              <a:ext uri="{FF2B5EF4-FFF2-40B4-BE49-F238E27FC236}">
                <a16:creationId xmlns:a16="http://schemas.microsoft.com/office/drawing/2014/main" id="{31D21B98-6A7C-017D-7534-D107E1FD43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2100" y="228005"/>
            <a:ext cx="6664953" cy="23090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7D3B0F3-66DC-1B3A-45F5-BF6C342D3310}"/>
              </a:ext>
            </a:extLst>
          </p:cNvPr>
          <p:cNvSpPr txBox="1"/>
          <p:nvPr/>
        </p:nvSpPr>
        <p:spPr>
          <a:xfrm>
            <a:off x="457200" y="6025455"/>
            <a:ext cx="85192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Services in angular are singleton by default.</a:t>
            </a:r>
          </a:p>
        </p:txBody>
      </p:sp>
      <p:pic>
        <p:nvPicPr>
          <p:cNvPr id="13320" name="Picture 8" descr="Features-Angular_Services">
            <a:extLst>
              <a:ext uri="{FF2B5EF4-FFF2-40B4-BE49-F238E27FC236}">
                <a16:creationId xmlns:a16="http://schemas.microsoft.com/office/drawing/2014/main" id="{569453FB-0D53-409B-3B12-7FC8097DF6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2099" y="2670382"/>
            <a:ext cx="6664953" cy="29467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129079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entury Gothic">
      <a:maj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Wood Type</Template>
  <TotalTime>1919</TotalTime>
  <Words>179</Words>
  <Application>Microsoft Office PowerPoint</Application>
  <PresentationFormat>Widescreen</PresentationFormat>
  <Paragraphs>42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Century Gothic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Mahmoud Meky</dc:creator>
  <cp:lastModifiedBy>Mahmoud Meky</cp:lastModifiedBy>
  <cp:revision>169</cp:revision>
  <dcterms:created xsi:type="dcterms:W3CDTF">2025-07-13T09:32:27Z</dcterms:created>
  <dcterms:modified xsi:type="dcterms:W3CDTF">2025-07-30T09:03:48Z</dcterms:modified>
</cp:coreProperties>
</file>